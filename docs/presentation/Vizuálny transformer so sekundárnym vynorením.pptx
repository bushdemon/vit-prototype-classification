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60" r:id="rId7"/>
    <p:sldId id="261" r:id="rId8"/>
    <p:sldId id="263" r:id="rId9"/>
    <p:sldId id="269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249E0-F533-48A2-BC34-E8C91B889494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C4938-4780-45EB-B25A-DC64A95CFB4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7096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1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434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233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3230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8851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3508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1150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6061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659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5955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8787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1E96EF-3522-4A71-B619-7CF600895860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96873F-D0BB-4823-B2E3-193B2B44F88E}" type="slidenum">
              <a:rPr lang="sk-SK" smtClean="0"/>
              <a:t>‹#›</a:t>
            </a:fld>
            <a:endParaRPr lang="sk-S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638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ushDemon/ViT-prototype-classificatio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FCBD4-626E-0E68-96FF-71030DB2EA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r>
              <a:rPr lang="sk-SK" dirty="0"/>
              <a:t>Vizuálny </a:t>
            </a:r>
            <a:r>
              <a:rPr lang="sk-SK" dirty="0" err="1"/>
              <a:t>transformer</a:t>
            </a:r>
            <a:r>
              <a:rPr lang="sk-SK" dirty="0"/>
              <a:t> so sekundárnym</a:t>
            </a:r>
            <a:r>
              <a:rPr lang="en-US" dirty="0"/>
              <a:t> </a:t>
            </a:r>
            <a:r>
              <a:rPr lang="sk-SK" dirty="0"/>
              <a:t>vynorením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43938-3DC7-25AA-817B-056ED6FAD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rgbClr val="FFFFFF"/>
                </a:solidFill>
                <a:latin typeface="+mn-lt"/>
              </a:rPr>
              <a:t>B</a:t>
            </a:r>
            <a:r>
              <a:rPr lang="sk-SK" cap="none" dirty="0">
                <a:solidFill>
                  <a:srgbClr val="FFFFFF"/>
                </a:solidFill>
                <a:latin typeface="+mn-lt"/>
              </a:rPr>
              <a:t>c</a:t>
            </a:r>
            <a:r>
              <a:rPr lang="sk-SK" dirty="0">
                <a:solidFill>
                  <a:srgbClr val="FFFFFF"/>
                </a:solidFill>
                <a:latin typeface="+mn-lt"/>
              </a:rPr>
              <a:t>. M</a:t>
            </a:r>
            <a:r>
              <a:rPr lang="sk-SK" cap="none" dirty="0">
                <a:solidFill>
                  <a:srgbClr val="FFFFFF"/>
                </a:solidFill>
                <a:latin typeface="+mn-lt"/>
              </a:rPr>
              <a:t>atej</a:t>
            </a:r>
            <a:r>
              <a:rPr lang="sk-SK" dirty="0">
                <a:solidFill>
                  <a:srgbClr val="FFFFFF"/>
                </a:solidFill>
                <a:latin typeface="+mn-lt"/>
              </a:rPr>
              <a:t> </a:t>
            </a:r>
            <a:r>
              <a:rPr lang="sk-SK" cap="none" dirty="0">
                <a:solidFill>
                  <a:srgbClr val="FFFFFF"/>
                </a:solidFill>
                <a:latin typeface="+mn-lt"/>
              </a:rPr>
              <a:t>Miškovčík		Školiteľ: RNDr. Andrej Lúčny, PhD.</a:t>
            </a:r>
            <a:br>
              <a:rPr lang="sk-SK" dirty="0">
                <a:solidFill>
                  <a:srgbClr val="FFFFFF"/>
                </a:solidFill>
                <a:latin typeface="+mn-lt"/>
              </a:rPr>
            </a:br>
            <a:r>
              <a:rPr lang="sk-SK" dirty="0">
                <a:solidFill>
                  <a:srgbClr val="FFFFFF"/>
                </a:solidFill>
                <a:latin typeface="+mn-lt"/>
              </a:rPr>
              <a:t>FMFI UK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36653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8F397-54B1-B95E-5277-D74F2EB00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sk-SK" sz="3600" dirty="0">
                <a:solidFill>
                  <a:srgbClr val="FFFFFF"/>
                </a:solidFill>
              </a:rPr>
              <a:t>Motivácia práce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0C0F-FBF7-1CD5-A563-60ADFC80B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860049" cy="564620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Vizuálny </a:t>
            </a:r>
            <a:r>
              <a:rPr lang="sk-SK" dirty="0" err="1"/>
              <a:t>transformer</a:t>
            </a:r>
            <a:r>
              <a:rPr lang="sk-SK" dirty="0"/>
              <a:t> patrí medzi moderné modely pre klasifikáciu obrazu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Zakončený môže byť: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000" dirty="0"/>
              <a:t>Vynorením – výstup </a:t>
            </a:r>
            <a:r>
              <a:rPr lang="en-US" sz="2000" dirty="0"/>
              <a:t>(CLS token)</a:t>
            </a:r>
            <a:r>
              <a:rPr lang="sk-SK" sz="2000" dirty="0"/>
              <a:t> sa porovnáva s </a:t>
            </a:r>
            <a:r>
              <a:rPr lang="sk-SK" sz="2000" dirty="0" err="1"/>
              <a:t>embedding</a:t>
            </a:r>
            <a:r>
              <a:rPr lang="sk-SK" sz="2000" dirty="0"/>
              <a:t> vektormi kategórií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sk-SK" sz="2000" dirty="0"/>
              <a:t>Hlavou – </a:t>
            </a:r>
            <a:r>
              <a:rPr lang="sk-SK" sz="2000" dirty="0" err="1"/>
              <a:t>perceptron</a:t>
            </a:r>
            <a:r>
              <a:rPr lang="sk-SK" sz="2000" dirty="0"/>
              <a:t> z CLS tokenu počíta log</a:t>
            </a:r>
            <a:r>
              <a:rPr lang="en-US" sz="2000" dirty="0" err="1"/>
              <a:t>aritmy</a:t>
            </a:r>
            <a:r>
              <a:rPr lang="en-US" sz="2000" dirty="0"/>
              <a:t> </a:t>
            </a:r>
            <a:r>
              <a:rPr lang="en-US" sz="2000" dirty="0" err="1"/>
              <a:t>pravdepodobnost</a:t>
            </a:r>
            <a:r>
              <a:rPr lang="sk-SK" sz="2000" dirty="0"/>
              <a:t>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Pri klasickom vynorení je kategória reprezentovaná jedným vektorom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Práca skúma rozšírenie: kategória reprezentovaná viacerými vektormi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Cieľom je overiť, či </a:t>
            </a:r>
            <a:r>
              <a:rPr lang="sk-SK" dirty="0" err="1"/>
              <a:t>viacvektorová</a:t>
            </a:r>
            <a:r>
              <a:rPr lang="sk-SK" dirty="0"/>
              <a:t> reprezentácia lepšie zachytí variabilitu objektov v triede</a:t>
            </a:r>
          </a:p>
        </p:txBody>
      </p:sp>
    </p:spTree>
    <p:extLst>
      <p:ext uri="{BB962C8B-B14F-4D97-AF65-F5344CB8AC3E}">
        <p14:creationId xmlns:p14="http://schemas.microsoft.com/office/powerpoint/2010/main" val="2138695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929A0-D85D-69CD-361F-E0321907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0" y="1341847"/>
            <a:ext cx="6574972" cy="636489"/>
          </a:xfrm>
        </p:spPr>
        <p:txBody>
          <a:bodyPr>
            <a:normAutofit/>
          </a:bodyPr>
          <a:lstStyle/>
          <a:p>
            <a:r>
              <a:rPr lang="sk-SK" sz="3600" dirty="0"/>
              <a:t>Architektúra</a:t>
            </a:r>
            <a:r>
              <a:rPr lang="sk-SK" sz="3700" dirty="0"/>
              <a:t> </a:t>
            </a:r>
            <a:r>
              <a:rPr lang="sk-SK" sz="3700" dirty="0" err="1"/>
              <a:t>Vision</a:t>
            </a:r>
            <a:r>
              <a:rPr lang="sk-SK" sz="3700" dirty="0"/>
              <a:t> </a:t>
            </a:r>
            <a:r>
              <a:rPr lang="sk-SK" sz="3700" dirty="0" err="1"/>
              <a:t>Transformeru</a:t>
            </a:r>
            <a:endParaRPr lang="sk-SK" sz="3700" dirty="0"/>
          </a:p>
        </p:txBody>
      </p:sp>
      <p:pic>
        <p:nvPicPr>
          <p:cNvPr id="1026" name="Picture 2" descr="Review: Vision Transformer (ViT). An Image is Worth 16x16 Words… | by  Sik-Ho Tsang | Medium">
            <a:extLst>
              <a:ext uri="{FF2B5EF4-FFF2-40B4-BE49-F238E27FC236}">
                <a16:creationId xmlns:a16="http://schemas.microsoft.com/office/drawing/2014/main" id="{47EC378F-5DC7-0320-4684-0A293E5FA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819" y="2158336"/>
            <a:ext cx="4903268" cy="250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C7CBA-EBCD-D2B4-458A-AFB98D627B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4200" y="2206936"/>
                <a:ext cx="6574973" cy="3670180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sk-SK" sz="1800" dirty="0"/>
                  <a:t> </a:t>
                </a:r>
                <a:r>
                  <a:rPr lang="sk-SK" dirty="0"/>
                  <a:t>obraz sa rozdelí na patch-e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sk-SK" dirty="0"/>
                  <a:t> patch-e sa prevedú na </a:t>
                </a:r>
                <a:r>
                  <a:rPr lang="sk-SK" dirty="0" err="1"/>
                  <a:t>embeddingy</a:t>
                </a:r>
                <a:endParaRPr lang="sk-SK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sk-SK" dirty="0"/>
                  <a:t> </a:t>
                </a:r>
                <a:r>
                  <a:rPr lang="sk-SK" dirty="0" err="1"/>
                  <a:t>transformer</a:t>
                </a:r>
                <a:r>
                  <a:rPr lang="sk-SK" dirty="0"/>
                  <a:t> </a:t>
                </a:r>
                <a:r>
                  <a:rPr lang="sk-SK" dirty="0" err="1"/>
                  <a:t>encoder</a:t>
                </a:r>
                <a:r>
                  <a:rPr lang="sk-SK" dirty="0"/>
                  <a:t> spracúva sekvenciu tokenov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sk-SK" sz="2000" dirty="0" err="1"/>
                  <a:t>encoder</a:t>
                </a:r>
                <a:r>
                  <a:rPr lang="sk-SK" sz="2000" dirty="0"/>
                  <a:t> sa skladá z </a:t>
                </a:r>
                <a14:m>
                  <m:oMath xmlns:m="http://schemas.openxmlformats.org/officeDocument/2006/math">
                    <m:r>
                      <a:rPr lang="sk-SK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sk-SK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k-SK" sz="2000" dirty="0"/>
                  <a:t>identických vrstiev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sk-SK" sz="2000" dirty="0"/>
                  <a:t>každá vrstva obsahuje :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sk-SK" sz="2000" b="1" dirty="0" err="1"/>
                  <a:t>Multi-Head</a:t>
                </a:r>
                <a:r>
                  <a:rPr lang="sk-SK" sz="2000" b="1" dirty="0"/>
                  <a:t> </a:t>
                </a:r>
                <a:r>
                  <a:rPr lang="sk-SK" sz="2000" b="1" dirty="0" err="1"/>
                  <a:t>Self-Attention</a:t>
                </a:r>
                <a:endParaRPr lang="sk-SK" sz="2000" b="1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sk-SK" sz="2000" b="1" dirty="0" err="1"/>
                  <a:t>Feed</a:t>
                </a:r>
                <a:r>
                  <a:rPr lang="sk-SK" sz="2000" b="1" dirty="0"/>
                  <a:t> Forward </a:t>
                </a:r>
                <a:r>
                  <a:rPr lang="sk-SK" sz="2000" b="1" dirty="0" err="1"/>
                  <a:t>Network</a:t>
                </a:r>
                <a:endParaRPr lang="sk-SK" sz="2000" b="1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residual connection + </a:t>
                </a:r>
                <a:r>
                  <a:rPr lang="en-US" sz="2000" b="1" dirty="0" err="1"/>
                  <a:t>LayerNorm</a:t>
                </a:r>
                <a:r>
                  <a:rPr lang="en-US" sz="2000" dirty="0"/>
                  <a:t> po </a:t>
                </a:r>
                <a:r>
                  <a:rPr lang="en-US" sz="2000" dirty="0" err="1"/>
                  <a:t>každom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sublayery</a:t>
                </a:r>
                <a:endParaRPr lang="sk-SK" sz="2000" dirty="0"/>
              </a:p>
              <a:p>
                <a:pPr marL="201168" lvl="1" indent="0">
                  <a:buNone/>
                </a:pPr>
                <a:endParaRPr lang="sk-SK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sk-SK" dirty="0"/>
                  <a:t> Výstupný </a:t>
                </a:r>
                <a:r>
                  <a:rPr lang="sk-SK" b="1" dirty="0"/>
                  <a:t>CLS token</a:t>
                </a:r>
                <a:r>
                  <a:rPr lang="sk-SK" dirty="0"/>
                  <a:t> reprezentuje celý obraz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6C7CBA-EBCD-D2B4-458A-AFB98D627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4200" y="2206936"/>
                <a:ext cx="6574973" cy="3670180"/>
              </a:xfrm>
              <a:blipFill>
                <a:blip r:embed="rId3"/>
                <a:stretch>
                  <a:fillRect l="-2226" t="-2326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D98FC-7AE2-B593-6EB4-85B7713D6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411" y="4950299"/>
            <a:ext cx="3143689" cy="4191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C08794-9AB9-8A30-4B3F-04023962B0DA}"/>
              </a:ext>
            </a:extLst>
          </p:cNvPr>
          <p:cNvSpPr/>
          <p:nvPr/>
        </p:nvSpPr>
        <p:spPr>
          <a:xfrm>
            <a:off x="127819" y="4659002"/>
            <a:ext cx="4846951" cy="375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k-SK" dirty="0">
                <a:solidFill>
                  <a:schemeClr val="tx1"/>
                </a:solidFill>
              </a:rPr>
              <a:t>Zdroj: </a:t>
            </a:r>
            <a:r>
              <a:rPr lang="sk-SK" dirty="0" err="1">
                <a:solidFill>
                  <a:schemeClr val="tx1"/>
                </a:solidFill>
              </a:rPr>
              <a:t>Dosovitskiy</a:t>
            </a:r>
            <a:r>
              <a:rPr lang="sk-SK" dirty="0">
                <a:solidFill>
                  <a:schemeClr val="tx1"/>
                </a:solidFill>
              </a:rPr>
              <a:t> et al., 2021</a:t>
            </a:r>
          </a:p>
        </p:txBody>
      </p:sp>
    </p:spTree>
    <p:extLst>
      <p:ext uri="{BB962C8B-B14F-4D97-AF65-F5344CB8AC3E}">
        <p14:creationId xmlns:p14="http://schemas.microsoft.com/office/powerpoint/2010/main" val="308160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DC1AE-7ABE-8E98-C036-7E93825D3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sk-SK" sz="3600" dirty="0">
                <a:solidFill>
                  <a:srgbClr val="FFFFFF"/>
                </a:solidFill>
              </a:rPr>
              <a:t>Vynorenie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9BBE3-A9D9-C72C-1263-0EDDA96FA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</p:spPr>
            <p:txBody>
              <a:bodyPr anchor="ctr"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pl-PL" dirty="0"/>
                  <a:t> CLS token reprezentuje celý obraz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sk-SK" dirty="0"/>
                  <a:t> klasifikácia založená na podobnosti </a:t>
                </a:r>
                <a:r>
                  <a:rPr lang="sk-SK" dirty="0" err="1"/>
                  <a:t>embeddingov</a:t>
                </a:r>
                <a:endParaRPr lang="sk-SK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sk-SK" dirty="0"/>
                  <a:t> CLS token sa porovnáva s reprezentáciami kategórií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sk-SK" dirty="0"/>
                  <a:t> výsledná trieda má najvyššiu </a:t>
                </a:r>
                <a:r>
                  <a:rPr lang="sk-SK" dirty="0" err="1"/>
                  <a:t>cosine</a:t>
                </a:r>
                <a:r>
                  <a:rPr lang="sk-SK" dirty="0"/>
                  <a:t> </a:t>
                </a:r>
                <a:r>
                  <a:rPr lang="sk-SK" dirty="0" err="1"/>
                  <a:t>similarity</a:t>
                </a:r>
                <a:endParaRPr lang="sk-SK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sk-SK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sk-SK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sk-SK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𝐶𝐿𝑆</m:t>
                        </m:r>
                      </m:sub>
                    </m:sSub>
                  </m:oMath>
                </a14:m>
                <a:r>
                  <a:rPr lang="sk-SK" dirty="0"/>
                  <a:t> =</a:t>
                </a:r>
                <a:r>
                  <a:rPr lang="ar-AE" dirty="0"/>
                  <a:t> </a:t>
                </a:r>
                <a:r>
                  <a:rPr lang="sk-SK" dirty="0"/>
                  <a:t>reprezentácia obrazu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sk-SK" dirty="0"/>
                  <a:t> </a:t>
                </a:r>
                <a:r>
                  <a:rPr lang="sk-SK" dirty="0" err="1"/>
                  <a:t>embedding</a:t>
                </a:r>
                <a:r>
                  <a:rPr lang="sk-SK" dirty="0"/>
                  <a:t> kategórie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9BBE3-A9D9-C72C-1263-0EDDA96FA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42016" y="605896"/>
                <a:ext cx="6413663" cy="5646208"/>
              </a:xfrm>
              <a:blipFill>
                <a:blip r:embed="rId2"/>
                <a:stretch>
                  <a:fillRect l="-2281"/>
                </a:stretch>
              </a:blipFill>
            </p:spPr>
            <p:txBody>
              <a:bodyPr/>
              <a:lstStyle/>
              <a:p>
                <a:r>
                  <a:rPr lang="sk-S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B01552A-6E47-2A52-06CA-413F5A5B7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936" y="3809554"/>
            <a:ext cx="2673722" cy="75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8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6C0DE-8BD3-F237-C5E0-3FB93C46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sk-SK" sz="3600" dirty="0">
                <a:solidFill>
                  <a:srgbClr val="FFFFFF"/>
                </a:solidFill>
              </a:rPr>
              <a:t>Hlava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362D5-9579-48FB-79C3-2FBCC6373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vstupom je výstupný CLS token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perceptron</a:t>
            </a:r>
            <a:r>
              <a:rPr lang="sk-SK" dirty="0"/>
              <a:t> počíta skóre pre každú kategóriu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tieto skóre interpretujeme ako </a:t>
            </a:r>
            <a:r>
              <a:rPr lang="sk-SK" dirty="0" err="1"/>
              <a:t>logity</a:t>
            </a:r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softmax</a:t>
            </a:r>
            <a:r>
              <a:rPr lang="sk-SK" dirty="0"/>
              <a:t> prevedie </a:t>
            </a:r>
            <a:r>
              <a:rPr lang="sk-SK" dirty="0" err="1"/>
              <a:t>logity</a:t>
            </a:r>
            <a:r>
              <a:rPr lang="sk-SK" dirty="0"/>
              <a:t> na pravdepodobnosti tried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výsledná kategória má najvyššiu pravdepodobnosť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96286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36F7BC5-3264-1C65-A150-74E2CC22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sk-SK" sz="3600" dirty="0">
                <a:solidFill>
                  <a:srgbClr val="FFFFFF"/>
                </a:solidFill>
              </a:rPr>
              <a:t>Experiment: </a:t>
            </a:r>
            <a:r>
              <a:rPr lang="sk-SK" sz="3600" dirty="0" err="1">
                <a:solidFill>
                  <a:srgbClr val="FFFFFF"/>
                </a:solidFill>
              </a:rPr>
              <a:t>viacvektorové</a:t>
            </a:r>
            <a:r>
              <a:rPr lang="sk-SK" sz="3600" dirty="0">
                <a:solidFill>
                  <a:srgbClr val="FFFFFF"/>
                </a:solidFill>
              </a:rPr>
              <a:t> vynorenie kategórií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D30B49-BAB7-03E8-67E3-3DEC1D610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sk-SK" dirty="0"/>
              <a:t>1 kategória → k  </a:t>
            </a:r>
            <a:r>
              <a:rPr lang="sk-SK" dirty="0" err="1"/>
              <a:t>embedding</a:t>
            </a:r>
            <a:r>
              <a:rPr lang="sk-SK" dirty="0"/>
              <a:t> vektorov namiesto jedného</a:t>
            </a:r>
          </a:p>
          <a:p>
            <a:endParaRPr lang="sk-SK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cieľom je rozšíriť klasické vynorenie kategórií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jedna trieda nebude reprezentovaná jedným vektorom, ale množinou vektorov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každý vektor môže zachytávať inú podobu objektu v danej kategórii</a:t>
            </a:r>
          </a:p>
        </p:txBody>
      </p:sp>
    </p:spTree>
    <p:extLst>
      <p:ext uri="{BB962C8B-B14F-4D97-AF65-F5344CB8AC3E}">
        <p14:creationId xmlns:p14="http://schemas.microsoft.com/office/powerpoint/2010/main" val="350210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FFD2D5-9B49-DCEF-282F-C0C8A21D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sk-SK" sz="3600" dirty="0">
                <a:solidFill>
                  <a:srgbClr val="FFFFFF"/>
                </a:solidFill>
              </a:rPr>
              <a:t>Aktuálny stav práce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9DD0-1E07-B3C3-1233-2F20C13E5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založený </a:t>
            </a:r>
            <a:r>
              <a:rPr lang="sk-SK" dirty="0" err="1"/>
              <a:t>GitHub</a:t>
            </a:r>
            <a:r>
              <a:rPr lang="sk-SK" dirty="0"/>
              <a:t> repozitár  </a:t>
            </a:r>
            <a:r>
              <a:rPr lang="sk-SK" dirty="0">
                <a:hlinkClick r:id="rId2"/>
              </a:rPr>
              <a:t>https://github.com/BushDemon/ViT-prototype-classification</a:t>
            </a:r>
            <a:r>
              <a:rPr lang="sk-SK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vytvorená </a:t>
            </a:r>
            <a:r>
              <a:rPr lang="sk-SK" dirty="0" err="1"/>
              <a:t>LaTeX</a:t>
            </a:r>
            <a:r>
              <a:rPr lang="sk-SK" dirty="0"/>
              <a:t> kostra diplomovej práce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preštudovaná základná literatúra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pripravené vývojové prostredie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otestovaný </a:t>
            </a:r>
            <a:r>
              <a:rPr lang="sk-SK" dirty="0" err="1"/>
              <a:t>framework</a:t>
            </a:r>
            <a:r>
              <a:rPr lang="en-US" dirty="0"/>
              <a:t>/</a:t>
            </a:r>
            <a:r>
              <a:rPr lang="en-US" dirty="0" err="1"/>
              <a:t>kni</a:t>
            </a:r>
            <a:r>
              <a:rPr lang="sk-SK" dirty="0"/>
              <a:t>žnice</a:t>
            </a:r>
          </a:p>
        </p:txBody>
      </p:sp>
    </p:spTree>
    <p:extLst>
      <p:ext uri="{BB962C8B-B14F-4D97-AF65-F5344CB8AC3E}">
        <p14:creationId xmlns:p14="http://schemas.microsoft.com/office/powerpoint/2010/main" val="4231944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4342-B48F-DA65-DC20-0189034B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Github</a:t>
            </a:r>
            <a:r>
              <a:rPr lang="sk-SK" dirty="0"/>
              <a:t> + </a:t>
            </a:r>
            <a:r>
              <a:rPr lang="sk-SK"/>
              <a:t>LaTeX</a:t>
            </a:r>
            <a:endParaRPr lang="sk-S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E9B44-DDD0-0240-45E2-A324F950D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Štruktúra repozitára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pPr marL="0" indent="0">
              <a:buNone/>
            </a:pPr>
            <a:r>
              <a:rPr lang="sk-SK" dirty="0"/>
              <a:t>V README.md sa nachádzajú aj ciele a plánované úlohy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12BD40-03A7-DAF0-C5E0-BC76B0E6E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78931"/>
            <a:ext cx="5835955" cy="170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12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EE4F3-7F0A-41F6-4A0D-5BFF58D3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Literatúra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B8F1B7-9701-2A73-3648-D5EB763BE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k-SK" cap="none" dirty="0">
                <a:solidFill>
                  <a:srgbClr val="BD582C"/>
                </a:solidFill>
              </a:rPr>
              <a:t>A</a:t>
            </a:r>
            <a:r>
              <a:rPr lang="en-US" cap="none" dirty="0" err="1">
                <a:solidFill>
                  <a:srgbClr val="BD582C"/>
                </a:solidFill>
              </a:rPr>
              <a:t>ttention</a:t>
            </a:r>
            <a:r>
              <a:rPr lang="en-US" cap="none" dirty="0">
                <a:solidFill>
                  <a:srgbClr val="BD582C"/>
                </a:solidFill>
              </a:rPr>
              <a:t> </a:t>
            </a:r>
            <a:r>
              <a:rPr lang="sk-SK" cap="none" dirty="0">
                <a:solidFill>
                  <a:srgbClr val="BD582C"/>
                </a:solidFill>
              </a:rPr>
              <a:t>i</a:t>
            </a:r>
            <a:r>
              <a:rPr lang="en-US" cap="none" dirty="0">
                <a:solidFill>
                  <a:srgbClr val="BD582C"/>
                </a:solidFill>
              </a:rPr>
              <a:t>s All You Need</a:t>
            </a:r>
            <a:r>
              <a:rPr lang="sk-SK" cap="none" dirty="0">
                <a:solidFill>
                  <a:srgbClr val="BD582C"/>
                </a:solidFill>
              </a:rPr>
              <a:t> – </a:t>
            </a:r>
            <a:r>
              <a:rPr lang="sk-SK" i="1" cap="none" dirty="0" err="1">
                <a:solidFill>
                  <a:srgbClr val="BD582C"/>
                </a:solidFill>
              </a:rPr>
              <a:t>Vaswani</a:t>
            </a:r>
            <a:r>
              <a:rPr lang="sk-SK" i="1" cap="none" dirty="0">
                <a:solidFill>
                  <a:srgbClr val="BD582C"/>
                </a:solidFill>
              </a:rPr>
              <a:t> et al.,2017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39A0F4-026D-BDA0-CB18-CA58E44328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predstavili architektúru </a:t>
            </a:r>
            <a:r>
              <a:rPr lang="sk-SK" b="1" dirty="0" err="1"/>
              <a:t>Transformer</a:t>
            </a:r>
            <a:endParaRPr lang="sk-SK" b="1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nahradili </a:t>
            </a:r>
            <a:r>
              <a:rPr lang="sk-SK" dirty="0" err="1"/>
              <a:t>rekurentné</a:t>
            </a:r>
            <a:r>
              <a:rPr lang="sk-SK" dirty="0"/>
              <a:t> vrstvy mechanizmom </a:t>
            </a:r>
            <a:r>
              <a:rPr lang="sk-SK" b="1" dirty="0" err="1"/>
              <a:t>self-attention</a:t>
            </a:r>
            <a:endParaRPr lang="sk-SK" b="1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zaviedli </a:t>
            </a:r>
            <a:r>
              <a:rPr lang="sk-SK" b="1" dirty="0" err="1"/>
              <a:t>multi-head</a:t>
            </a:r>
            <a:r>
              <a:rPr lang="sk-SK" b="1" dirty="0"/>
              <a:t> </a:t>
            </a:r>
            <a:r>
              <a:rPr lang="sk-SK" b="1" dirty="0" err="1"/>
              <a:t>attention</a:t>
            </a:r>
            <a:endParaRPr lang="sk-SK" b="1" dirty="0"/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</a:t>
            </a:r>
            <a:r>
              <a:rPr lang="sk-SK" dirty="0" err="1"/>
              <a:t>encoder</a:t>
            </a:r>
            <a:r>
              <a:rPr lang="sk-SK" dirty="0"/>
              <a:t> a </a:t>
            </a:r>
            <a:r>
              <a:rPr lang="sk-SK" dirty="0" err="1"/>
              <a:t>decoder</a:t>
            </a:r>
            <a:r>
              <a:rPr lang="sk-SK" dirty="0"/>
              <a:t> sú tvorené opakovaním rovnakých vrstiev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model dosiahol veľmi dobré výsledky v strojovom preklade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552689-C05C-F952-3A10-D0F322ED2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cap="none" dirty="0">
                <a:solidFill>
                  <a:srgbClr val="BD582C"/>
                </a:solidFill>
              </a:rPr>
              <a:t>An Image </a:t>
            </a:r>
            <a:r>
              <a:rPr lang="sk-SK" cap="none" dirty="0">
                <a:solidFill>
                  <a:srgbClr val="BD582C"/>
                </a:solidFill>
              </a:rPr>
              <a:t>i</a:t>
            </a:r>
            <a:r>
              <a:rPr lang="en-US" cap="none" dirty="0">
                <a:solidFill>
                  <a:srgbClr val="BD582C"/>
                </a:solidFill>
              </a:rPr>
              <a:t>s Worth 16x16 Words</a:t>
            </a:r>
            <a:r>
              <a:rPr lang="sk-SK" cap="none" dirty="0">
                <a:solidFill>
                  <a:srgbClr val="BD582C"/>
                </a:solidFill>
              </a:rPr>
              <a:t>: </a:t>
            </a:r>
            <a:r>
              <a:rPr lang="en-US" cap="none" dirty="0">
                <a:solidFill>
                  <a:srgbClr val="BD582C"/>
                </a:solidFill>
              </a:rPr>
              <a:t>Transformers For Image Recognition At Scale</a:t>
            </a:r>
            <a:r>
              <a:rPr lang="sk-SK" cap="none" dirty="0">
                <a:solidFill>
                  <a:srgbClr val="BD582C"/>
                </a:solidFill>
              </a:rPr>
              <a:t> – </a:t>
            </a:r>
            <a:r>
              <a:rPr lang="sk-SK" cap="none" dirty="0" err="1">
                <a:solidFill>
                  <a:srgbClr val="BD582C"/>
                </a:solidFill>
              </a:rPr>
              <a:t>Dosovitskiy</a:t>
            </a:r>
            <a:r>
              <a:rPr lang="sk-SK" cap="none" dirty="0">
                <a:solidFill>
                  <a:srgbClr val="BD582C"/>
                </a:solidFill>
              </a:rPr>
              <a:t> et al., 2021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FBB316-A976-71E3-473A-23827501B08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 aplikovali Transformer na klasifikáciu obrazu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 obraz rozdelili na malé </a:t>
            </a:r>
            <a:r>
              <a:rPr lang="pl-PL" b="1" dirty="0"/>
              <a:t>patch-e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patch-e spracovali ako sekvenciu tokenov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dosiahli konkurencieschopné výsledky bez použitia CNN vrstiev</a:t>
            </a:r>
          </a:p>
        </p:txBody>
      </p:sp>
    </p:spTree>
    <p:extLst>
      <p:ext uri="{BB962C8B-B14F-4D97-AF65-F5344CB8AC3E}">
        <p14:creationId xmlns:p14="http://schemas.microsoft.com/office/powerpoint/2010/main" val="1501026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F07C-36D6-BC87-4879-9FE32ACE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Framework</a:t>
            </a:r>
            <a:r>
              <a:rPr lang="sk-SK" dirty="0"/>
              <a:t>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866B2-1E9F-B79C-8561-B0091217E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 mojom teste je použitý </a:t>
            </a:r>
            <a:r>
              <a:rPr lang="sk-SK" dirty="0" err="1"/>
              <a:t>predtrénovaný</a:t>
            </a:r>
            <a:r>
              <a:rPr lang="sk-SK" dirty="0"/>
              <a:t> </a:t>
            </a:r>
            <a:r>
              <a:rPr lang="sk-SK" dirty="0" err="1"/>
              <a:t>Vision</a:t>
            </a:r>
            <a:r>
              <a:rPr lang="sk-SK" dirty="0"/>
              <a:t> </a:t>
            </a:r>
            <a:r>
              <a:rPr lang="sk-SK" dirty="0" err="1"/>
              <a:t>Transformer</a:t>
            </a:r>
            <a:r>
              <a:rPr lang="sk-SK" dirty="0"/>
              <a:t> vit_b_16 z knižnice </a:t>
            </a:r>
            <a:r>
              <a:rPr lang="sk-SK" dirty="0" err="1"/>
              <a:t>torchvision</a:t>
            </a:r>
            <a:r>
              <a:rPr lang="sk-SK" dirty="0"/>
              <a:t>.</a:t>
            </a:r>
            <a:br>
              <a:rPr lang="sk-SK" dirty="0"/>
            </a:br>
            <a:r>
              <a:rPr lang="sk-SK" dirty="0"/>
              <a:t>Cieľom je overiť načítanie modelu, predspracovanie vstupného obrázka a získanie výstupných pravdepodobností tried.</a:t>
            </a:r>
          </a:p>
          <a:p>
            <a:endParaRPr lang="sk-SK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53C978-CEB6-C737-7668-FAE005FA9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46094"/>
            <a:ext cx="4551103" cy="3478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7D4B07-56A4-806D-8F09-6E106BB28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824" y="2746094"/>
            <a:ext cx="4219437" cy="213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04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0E1EE-5857-4344-5F2B-F49DA8C5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sk-SK" sz="3600">
                <a:solidFill>
                  <a:srgbClr val="FFFFFF"/>
                </a:solidFill>
              </a:rPr>
              <a:t>Plán ďalšej práce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1BE1D-4FE4-18E9-93AD-8D9CB704E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implementácia </a:t>
            </a:r>
            <a:r>
              <a:rPr lang="sk-SK" dirty="0" err="1"/>
              <a:t>ViT</a:t>
            </a:r>
            <a:r>
              <a:rPr lang="sk-SK" dirty="0"/>
              <a:t> s klasickým vynorením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Implementácia </a:t>
            </a:r>
            <a:r>
              <a:rPr lang="sk-SK" dirty="0" err="1"/>
              <a:t>ViT</a:t>
            </a:r>
            <a:r>
              <a:rPr lang="sk-SK" dirty="0"/>
              <a:t> s hlavou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implementácia </a:t>
            </a:r>
            <a:r>
              <a:rPr lang="sk-SK" dirty="0" err="1"/>
              <a:t>ViT</a:t>
            </a:r>
            <a:r>
              <a:rPr lang="sk-SK" dirty="0"/>
              <a:t> s </a:t>
            </a:r>
            <a:r>
              <a:rPr lang="sk-SK" dirty="0" err="1"/>
              <a:t>viacvektorovým</a:t>
            </a:r>
            <a:r>
              <a:rPr lang="sk-SK" dirty="0"/>
              <a:t> vynorením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návrh experimentov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k-SK" dirty="0"/>
              <a:t> vyhodnotenie výsledkov</a:t>
            </a:r>
          </a:p>
        </p:txBody>
      </p:sp>
    </p:spTree>
    <p:extLst>
      <p:ext uri="{BB962C8B-B14F-4D97-AF65-F5344CB8AC3E}">
        <p14:creationId xmlns:p14="http://schemas.microsoft.com/office/powerpoint/2010/main" val="2473980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BAF9-4B36-A559-AFB1-EF0D7CE4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Ďakujem za pozornosť</a:t>
            </a:r>
          </a:p>
        </p:txBody>
      </p:sp>
    </p:spTree>
    <p:extLst>
      <p:ext uri="{BB962C8B-B14F-4D97-AF65-F5344CB8AC3E}">
        <p14:creationId xmlns:p14="http://schemas.microsoft.com/office/powerpoint/2010/main" val="27667046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208</TotalTime>
  <Words>473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Cambria Math</vt:lpstr>
      <vt:lpstr>Retrospect</vt:lpstr>
      <vt:lpstr>Vizuálny transformer so sekundárnym vynorením</vt:lpstr>
      <vt:lpstr>Motivácia práce</vt:lpstr>
      <vt:lpstr>Architektúra Vision Transformeru</vt:lpstr>
      <vt:lpstr>Vynorenie</vt:lpstr>
      <vt:lpstr>Hlava</vt:lpstr>
      <vt:lpstr>Experiment: viacvektorové vynorenie kategórií</vt:lpstr>
      <vt:lpstr>Aktuálny stav práce</vt:lpstr>
      <vt:lpstr>Github + LaTeX</vt:lpstr>
      <vt:lpstr>Literatúra</vt:lpstr>
      <vt:lpstr>Framework test</vt:lpstr>
      <vt:lpstr>Plán ďalšej práce</vt:lpstr>
      <vt:lpstr>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Miškovčík Matej</dc:creator>
  <cp:lastModifiedBy>Miškovčík Matej</cp:lastModifiedBy>
  <cp:revision>11</cp:revision>
  <dcterms:created xsi:type="dcterms:W3CDTF">2026-05-14T13:27:25Z</dcterms:created>
  <dcterms:modified xsi:type="dcterms:W3CDTF">2026-05-14T20:25:44Z</dcterms:modified>
</cp:coreProperties>
</file>